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F4726B-FC18-4D3E-BD2C-BC00D6E0C7A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69765EF-4E01-4B4B-8E12-A204E1D7BE72}">
      <dgm:prSet/>
      <dgm:spPr/>
      <dgm:t>
        <a:bodyPr/>
        <a:lstStyle/>
        <a:p>
          <a:r>
            <a:rPr lang="en-IN" dirty="0"/>
            <a:t>Best performing model-</a:t>
          </a:r>
        </a:p>
        <a:p>
          <a:r>
            <a:rPr lang="en-US" dirty="0"/>
            <a:t>Random Forest Regressor</a:t>
          </a:r>
        </a:p>
      </dgm:t>
    </dgm:pt>
    <dgm:pt modelId="{642E6364-12D5-4588-893F-FCD36D20775A}" type="parTrans" cxnId="{EE5237DB-FA66-411B-A490-EA425DE68121}">
      <dgm:prSet/>
      <dgm:spPr/>
      <dgm:t>
        <a:bodyPr/>
        <a:lstStyle/>
        <a:p>
          <a:endParaRPr lang="en-US" sz="2400"/>
        </a:p>
      </dgm:t>
    </dgm:pt>
    <dgm:pt modelId="{E4936EA3-B5E2-4356-A32D-AC05120CAC10}" type="sibTrans" cxnId="{EE5237DB-FA66-411B-A490-EA425DE68121}">
      <dgm:prSet/>
      <dgm:spPr/>
      <dgm:t>
        <a:bodyPr/>
        <a:lstStyle/>
        <a:p>
          <a:endParaRPr lang="en-US"/>
        </a:p>
      </dgm:t>
    </dgm:pt>
    <dgm:pt modelId="{EDB0F6AA-F518-41E5-8D4E-E3A117349340}">
      <dgm:prSet/>
      <dgm:spPr/>
      <dgm:t>
        <a:bodyPr/>
        <a:lstStyle/>
        <a:p>
          <a:r>
            <a:rPr lang="en-IN" dirty="0"/>
            <a:t>R square score – 0.4167</a:t>
          </a:r>
          <a:endParaRPr lang="en-US" dirty="0"/>
        </a:p>
      </dgm:t>
    </dgm:pt>
    <dgm:pt modelId="{E0D3508F-4C10-4DBB-8AAD-47392CE4F4CD}" type="parTrans" cxnId="{A5650235-6FF3-41B4-9349-E27B6472A67C}">
      <dgm:prSet/>
      <dgm:spPr/>
      <dgm:t>
        <a:bodyPr/>
        <a:lstStyle/>
        <a:p>
          <a:endParaRPr lang="en-US" sz="2400"/>
        </a:p>
      </dgm:t>
    </dgm:pt>
    <dgm:pt modelId="{8952C081-9E8F-4D44-A111-3B331D20150E}" type="sibTrans" cxnId="{A5650235-6FF3-41B4-9349-E27B6472A67C}">
      <dgm:prSet/>
      <dgm:spPr/>
      <dgm:t>
        <a:bodyPr/>
        <a:lstStyle/>
        <a:p>
          <a:endParaRPr lang="en-US"/>
        </a:p>
      </dgm:t>
    </dgm:pt>
    <dgm:pt modelId="{F068AA1B-E7A7-470F-A756-42A6DA1479DB}">
      <dgm:prSet/>
      <dgm:spPr/>
      <dgm:t>
        <a:bodyPr/>
        <a:lstStyle/>
        <a:p>
          <a:r>
            <a:rPr lang="en-IN" dirty="0"/>
            <a:t>Second best performance – Gaussian process Regressor</a:t>
          </a:r>
          <a:endParaRPr lang="en-US" dirty="0"/>
        </a:p>
      </dgm:t>
    </dgm:pt>
    <dgm:pt modelId="{B3E626BB-9699-4DCA-992B-1566ED2634B8}" type="parTrans" cxnId="{A197D6C1-17B7-42D3-8163-3E4358923961}">
      <dgm:prSet/>
      <dgm:spPr/>
      <dgm:t>
        <a:bodyPr/>
        <a:lstStyle/>
        <a:p>
          <a:endParaRPr lang="en-US" sz="2400"/>
        </a:p>
      </dgm:t>
    </dgm:pt>
    <dgm:pt modelId="{216C399E-99F2-42C8-8DBC-9285C9F82238}" type="sibTrans" cxnId="{A197D6C1-17B7-42D3-8163-3E4358923961}">
      <dgm:prSet/>
      <dgm:spPr/>
      <dgm:t>
        <a:bodyPr/>
        <a:lstStyle/>
        <a:p>
          <a:endParaRPr lang="en-US"/>
        </a:p>
      </dgm:t>
    </dgm:pt>
    <dgm:pt modelId="{DD783FA7-2B5E-4B5A-A172-FC079299240F}">
      <dgm:prSet/>
      <dgm:spPr/>
      <dgm:t>
        <a:bodyPr/>
        <a:lstStyle/>
        <a:p>
          <a:r>
            <a:rPr lang="en-IN" dirty="0"/>
            <a:t>Visuals used - model comparison bar plot</a:t>
          </a:r>
          <a:br>
            <a:rPr lang="en-IN" dirty="0"/>
          </a:br>
          <a:r>
            <a:rPr lang="en-IN" dirty="0"/>
            <a:t>                       - actual vs predicted scatter plot</a:t>
          </a:r>
          <a:endParaRPr lang="en-US" dirty="0"/>
        </a:p>
      </dgm:t>
    </dgm:pt>
    <dgm:pt modelId="{4256497C-D27C-4EF2-A55E-52122B2B4EF5}" type="parTrans" cxnId="{185F3294-B5BA-4B54-A889-2773FED4512A}">
      <dgm:prSet/>
      <dgm:spPr/>
      <dgm:t>
        <a:bodyPr/>
        <a:lstStyle/>
        <a:p>
          <a:endParaRPr lang="en-US" sz="2400"/>
        </a:p>
      </dgm:t>
    </dgm:pt>
    <dgm:pt modelId="{EB4A754E-6FF4-4737-B8F5-D188AC628C40}" type="sibTrans" cxnId="{185F3294-B5BA-4B54-A889-2773FED4512A}">
      <dgm:prSet/>
      <dgm:spPr/>
      <dgm:t>
        <a:bodyPr/>
        <a:lstStyle/>
        <a:p>
          <a:endParaRPr lang="en-US"/>
        </a:p>
      </dgm:t>
    </dgm:pt>
    <dgm:pt modelId="{B3BA7946-AC79-4F0D-98E3-8443EFA747FC}" type="pres">
      <dgm:prSet presAssocID="{03F4726B-FC18-4D3E-BD2C-BC00D6E0C7A8}" presName="diagram" presStyleCnt="0">
        <dgm:presLayoutVars>
          <dgm:dir/>
          <dgm:resizeHandles val="exact"/>
        </dgm:presLayoutVars>
      </dgm:prSet>
      <dgm:spPr/>
    </dgm:pt>
    <dgm:pt modelId="{F92F68FD-0DEE-4C72-AE6D-664341D5288C}" type="pres">
      <dgm:prSet presAssocID="{969765EF-4E01-4B4B-8E12-A204E1D7BE72}" presName="node" presStyleLbl="node1" presStyleIdx="0" presStyleCnt="4">
        <dgm:presLayoutVars>
          <dgm:bulletEnabled val="1"/>
        </dgm:presLayoutVars>
      </dgm:prSet>
      <dgm:spPr/>
    </dgm:pt>
    <dgm:pt modelId="{8767FDA5-25B7-4716-8954-D3BCBF622BE7}" type="pres">
      <dgm:prSet presAssocID="{E4936EA3-B5E2-4356-A32D-AC05120CAC10}" presName="sibTrans" presStyleCnt="0"/>
      <dgm:spPr/>
    </dgm:pt>
    <dgm:pt modelId="{AAF0994D-AEE6-4900-BE4F-9B6CA7EDB46C}" type="pres">
      <dgm:prSet presAssocID="{EDB0F6AA-F518-41E5-8D4E-E3A117349340}" presName="node" presStyleLbl="node1" presStyleIdx="1" presStyleCnt="4">
        <dgm:presLayoutVars>
          <dgm:bulletEnabled val="1"/>
        </dgm:presLayoutVars>
      </dgm:prSet>
      <dgm:spPr/>
    </dgm:pt>
    <dgm:pt modelId="{B0E1C0E9-B87D-401E-91C4-215E7A2221CC}" type="pres">
      <dgm:prSet presAssocID="{8952C081-9E8F-4D44-A111-3B331D20150E}" presName="sibTrans" presStyleCnt="0"/>
      <dgm:spPr/>
    </dgm:pt>
    <dgm:pt modelId="{4C1B31C3-15EE-4548-A9F9-92AC7ECE499D}" type="pres">
      <dgm:prSet presAssocID="{F068AA1B-E7A7-470F-A756-42A6DA1479DB}" presName="node" presStyleLbl="node1" presStyleIdx="2" presStyleCnt="4">
        <dgm:presLayoutVars>
          <dgm:bulletEnabled val="1"/>
        </dgm:presLayoutVars>
      </dgm:prSet>
      <dgm:spPr/>
    </dgm:pt>
    <dgm:pt modelId="{47787C12-82C4-4379-B56C-4407BC1575F3}" type="pres">
      <dgm:prSet presAssocID="{216C399E-99F2-42C8-8DBC-9285C9F82238}" presName="sibTrans" presStyleCnt="0"/>
      <dgm:spPr/>
    </dgm:pt>
    <dgm:pt modelId="{D114B879-C211-4BE6-8EE2-A95431D5BC70}" type="pres">
      <dgm:prSet presAssocID="{DD783FA7-2B5E-4B5A-A172-FC079299240F}" presName="node" presStyleLbl="node1" presStyleIdx="3" presStyleCnt="4">
        <dgm:presLayoutVars>
          <dgm:bulletEnabled val="1"/>
        </dgm:presLayoutVars>
      </dgm:prSet>
      <dgm:spPr/>
    </dgm:pt>
  </dgm:ptLst>
  <dgm:cxnLst>
    <dgm:cxn modelId="{E982F209-9D0E-4E70-AD33-FEC07CF18D68}" type="presOf" srcId="{F068AA1B-E7A7-470F-A756-42A6DA1479DB}" destId="{4C1B31C3-15EE-4548-A9F9-92AC7ECE499D}" srcOrd="0" destOrd="0" presId="urn:microsoft.com/office/officeart/2005/8/layout/default"/>
    <dgm:cxn modelId="{D38BD716-1113-4531-B6A1-63CAFCD1B9DE}" type="presOf" srcId="{969765EF-4E01-4B4B-8E12-A204E1D7BE72}" destId="{F92F68FD-0DEE-4C72-AE6D-664341D5288C}" srcOrd="0" destOrd="0" presId="urn:microsoft.com/office/officeart/2005/8/layout/default"/>
    <dgm:cxn modelId="{71FCC424-AB23-4B8E-91A5-9E04FB10D401}" type="presOf" srcId="{03F4726B-FC18-4D3E-BD2C-BC00D6E0C7A8}" destId="{B3BA7946-AC79-4F0D-98E3-8443EFA747FC}" srcOrd="0" destOrd="0" presId="urn:microsoft.com/office/officeart/2005/8/layout/default"/>
    <dgm:cxn modelId="{A5650235-6FF3-41B4-9349-E27B6472A67C}" srcId="{03F4726B-FC18-4D3E-BD2C-BC00D6E0C7A8}" destId="{EDB0F6AA-F518-41E5-8D4E-E3A117349340}" srcOrd="1" destOrd="0" parTransId="{E0D3508F-4C10-4DBB-8AAD-47392CE4F4CD}" sibTransId="{8952C081-9E8F-4D44-A111-3B331D20150E}"/>
    <dgm:cxn modelId="{D649315A-E787-483B-9184-54528C003BF8}" type="presOf" srcId="{DD783FA7-2B5E-4B5A-A172-FC079299240F}" destId="{D114B879-C211-4BE6-8EE2-A95431D5BC70}" srcOrd="0" destOrd="0" presId="urn:microsoft.com/office/officeart/2005/8/layout/default"/>
    <dgm:cxn modelId="{60F5AB7B-C424-4510-9CA3-3AD281E70536}" type="presOf" srcId="{EDB0F6AA-F518-41E5-8D4E-E3A117349340}" destId="{AAF0994D-AEE6-4900-BE4F-9B6CA7EDB46C}" srcOrd="0" destOrd="0" presId="urn:microsoft.com/office/officeart/2005/8/layout/default"/>
    <dgm:cxn modelId="{185F3294-B5BA-4B54-A889-2773FED4512A}" srcId="{03F4726B-FC18-4D3E-BD2C-BC00D6E0C7A8}" destId="{DD783FA7-2B5E-4B5A-A172-FC079299240F}" srcOrd="3" destOrd="0" parTransId="{4256497C-D27C-4EF2-A55E-52122B2B4EF5}" sibTransId="{EB4A754E-6FF4-4737-B8F5-D188AC628C40}"/>
    <dgm:cxn modelId="{A197D6C1-17B7-42D3-8163-3E4358923961}" srcId="{03F4726B-FC18-4D3E-BD2C-BC00D6E0C7A8}" destId="{F068AA1B-E7A7-470F-A756-42A6DA1479DB}" srcOrd="2" destOrd="0" parTransId="{B3E626BB-9699-4DCA-992B-1566ED2634B8}" sibTransId="{216C399E-99F2-42C8-8DBC-9285C9F82238}"/>
    <dgm:cxn modelId="{EE5237DB-FA66-411B-A490-EA425DE68121}" srcId="{03F4726B-FC18-4D3E-BD2C-BC00D6E0C7A8}" destId="{969765EF-4E01-4B4B-8E12-A204E1D7BE72}" srcOrd="0" destOrd="0" parTransId="{642E6364-12D5-4588-893F-FCD36D20775A}" sibTransId="{E4936EA3-B5E2-4356-A32D-AC05120CAC10}"/>
    <dgm:cxn modelId="{80C9358F-D3A0-421C-BC3D-47840DE96705}" type="presParOf" srcId="{B3BA7946-AC79-4F0D-98E3-8443EFA747FC}" destId="{F92F68FD-0DEE-4C72-AE6D-664341D5288C}" srcOrd="0" destOrd="0" presId="urn:microsoft.com/office/officeart/2005/8/layout/default"/>
    <dgm:cxn modelId="{4DF3A219-6556-4F96-8BAF-6B6BB826E53E}" type="presParOf" srcId="{B3BA7946-AC79-4F0D-98E3-8443EFA747FC}" destId="{8767FDA5-25B7-4716-8954-D3BCBF622BE7}" srcOrd="1" destOrd="0" presId="urn:microsoft.com/office/officeart/2005/8/layout/default"/>
    <dgm:cxn modelId="{B65D7937-0F8C-4FC4-804F-E362BFD19697}" type="presParOf" srcId="{B3BA7946-AC79-4F0D-98E3-8443EFA747FC}" destId="{AAF0994D-AEE6-4900-BE4F-9B6CA7EDB46C}" srcOrd="2" destOrd="0" presId="urn:microsoft.com/office/officeart/2005/8/layout/default"/>
    <dgm:cxn modelId="{4E8DDE96-5E7B-4A7B-A2D7-FF969C03A97D}" type="presParOf" srcId="{B3BA7946-AC79-4F0D-98E3-8443EFA747FC}" destId="{B0E1C0E9-B87D-401E-91C4-215E7A2221CC}" srcOrd="3" destOrd="0" presId="urn:microsoft.com/office/officeart/2005/8/layout/default"/>
    <dgm:cxn modelId="{4DCA8781-4A4C-4C6B-B199-6F66CE9A5ED4}" type="presParOf" srcId="{B3BA7946-AC79-4F0D-98E3-8443EFA747FC}" destId="{4C1B31C3-15EE-4548-A9F9-92AC7ECE499D}" srcOrd="4" destOrd="0" presId="urn:microsoft.com/office/officeart/2005/8/layout/default"/>
    <dgm:cxn modelId="{314CABBE-FA65-4AE5-9A4A-CBA150493DE6}" type="presParOf" srcId="{B3BA7946-AC79-4F0D-98E3-8443EFA747FC}" destId="{47787C12-82C4-4379-B56C-4407BC1575F3}" srcOrd="5" destOrd="0" presId="urn:microsoft.com/office/officeart/2005/8/layout/default"/>
    <dgm:cxn modelId="{C598D1FE-2A4D-44D5-8763-040E1C1D48A4}" type="presParOf" srcId="{B3BA7946-AC79-4F0D-98E3-8443EFA747FC}" destId="{D114B879-C211-4BE6-8EE2-A95431D5BC7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2F68FD-0DEE-4C72-AE6D-664341D5288C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Best performing model-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Random Forest Regressor</a:t>
          </a:r>
        </a:p>
      </dsp:txBody>
      <dsp:txXfrm>
        <a:off x="429570" y="472"/>
        <a:ext cx="3346456" cy="2007873"/>
      </dsp:txXfrm>
    </dsp:sp>
    <dsp:sp modelId="{AAF0994D-AEE6-4900-BE4F-9B6CA7EDB46C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R square score – 0.4167</a:t>
          </a:r>
          <a:endParaRPr lang="en-US" sz="2600" kern="1200" dirty="0"/>
        </a:p>
      </dsp:txBody>
      <dsp:txXfrm>
        <a:off x="4110672" y="472"/>
        <a:ext cx="3346456" cy="2007873"/>
      </dsp:txXfrm>
    </dsp:sp>
    <dsp:sp modelId="{4C1B31C3-15EE-4548-A9F9-92AC7ECE499D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Second best performance – Gaussian process Regressor</a:t>
          </a:r>
          <a:endParaRPr lang="en-US" sz="2600" kern="1200" dirty="0"/>
        </a:p>
      </dsp:txBody>
      <dsp:txXfrm>
        <a:off x="429570" y="2342991"/>
        <a:ext cx="3346456" cy="2007873"/>
      </dsp:txXfrm>
    </dsp:sp>
    <dsp:sp modelId="{D114B879-C211-4BE6-8EE2-A95431D5BC70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Visuals used - model comparison bar plot</a:t>
          </a:r>
          <a:br>
            <a:rPr lang="en-IN" sz="2600" kern="1200" dirty="0"/>
          </a:br>
          <a:r>
            <a:rPr lang="en-IN" sz="2600" kern="1200" dirty="0"/>
            <a:t>                       - actual vs predicted scatter plot</a:t>
          </a:r>
          <a:endParaRPr lang="en-US" sz="2600" kern="1200" dirty="0"/>
        </a:p>
      </dsp:txBody>
      <dsp:txXfrm>
        <a:off x="4110672" y="2342991"/>
        <a:ext cx="3346456" cy="2007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NC lathe processing">
            <a:extLst>
              <a:ext uri="{FF2B5EF4-FFF2-40B4-BE49-F238E27FC236}">
                <a16:creationId xmlns:a16="http://schemas.microsoft.com/office/drawing/2014/main" id="{D74F8661-0BD2-15D3-9093-9BCE0DDC9B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31"/>
          <a:stretch>
            <a:fillRect/>
          </a:stretch>
        </p:blipFill>
        <p:spPr>
          <a:xfrm>
            <a:off x="20" y="10"/>
            <a:ext cx="9143980" cy="4465973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7036903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196" y="4203278"/>
            <a:ext cx="6417894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Predicting Steel Quality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196" y="4956314"/>
            <a:ext cx="8293608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Subject: Applied Machine Learning &amp; Deep Learning (190.015)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Semester: Winter Semester 2025/26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Student: Rishabh Kothari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Institution: Montanuniversität Leoben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Problem Statement</a:t>
            </a: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quality is critical for safety, durability, and cost.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depends on many interacting process parameters such as temperature, pressure, material composition, cooling rate.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models struggle with complexity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Industry 4.0, large volumes of sensor data are available.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this project: Use machine learning to predict a continuous steel quality factor.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IN" sz="4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production sensor dataset: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7,642 training samples and 3,337 test samples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 normalized input features, 1 continuous output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 or duplicates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type: Supervised regression.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248" y="1852328"/>
            <a:ext cx="4264643" cy="352591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distributions are mostly unimodal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extreme outliers observed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variable is continuous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well-suited for regression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shows moderate correlation between features, no single dominant feature.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quality depends on combination of multiple parameters.</a:t>
            </a:r>
          </a:p>
          <a:p>
            <a:pPr lvl="1">
              <a:lnSpc>
                <a:spcPct val="90000"/>
              </a:lnSpc>
            </a:pPr>
            <a:endParaRPr lang="en-US" sz="13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7BC434-3135-1699-2B16-81FDEFCA4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023" y="1711248"/>
            <a:ext cx="4670094" cy="3525919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formulated as supervised regression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Random Forest Regressor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ii)  Support Vector Regression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iii) Multi-Layer Perceptron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iv) Gaussian Process Regressor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 trained on normalized training data.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done on independent test dataset.</a:t>
            </a:r>
          </a:p>
          <a:p>
            <a:pPr>
              <a:lnSpc>
                <a:spcPct val="90000"/>
              </a:lnSpc>
            </a:pPr>
            <a:endParaRPr lang="en-US" sz="2700" dirty="0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7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109" name="Arc 10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Models evaluated using: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Mean Absolute Error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ii)  Root Mean Squared Error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iii) R squared score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iv) Training Time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v)  Inference time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These metrics measure: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prediction accuracy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ii)  error magnitude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iii) model goodness of fit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Experimental Results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C8535E14-75C5-764B-5BD8-09CF5A08F77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6335144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Limitations</a:t>
            </a:r>
            <a:endParaRPr lang="en-IN" sz="34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94756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Random Forest Regressor achieved the best R² score of 0.4167, explaining ~41.67% of variance in steel production output.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RMSE of 0.059094 and MAE of 0.045271 indicate reasonable prediction accuracy.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Gaussian Process Regressor improved from negative R² (-0.222) to positive (0.219) after hyperparameter tuning.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21 engineered features; additional domain-specific features could improve R².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Moderate R² score indicates room for improvement through ensemble methods or deep learning.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Temporal dependencies not captured (time-series analysis could enhance predictions).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Cross-validation not extensively performed; k-fold CV recommended for robustness.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0" y="591344"/>
            <a:ext cx="5389895" cy="5878282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Successfully cleaned 7,642 training and 3,337 test samples with zero missing values and duplicates post-processing.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21 features standardized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fair model comparison.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Balanced train-validation-test split (67%-10%-23%) ensures reliable performance evaluation.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Time-series forecasting (ARIMA, Prophet) for temporal patterns.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Deep learning models (LSTM, Transformer) for sequence data.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Hyperparameter optimization using Bayesian search 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Explainability analysis (SHAP values) for model interpretability.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Anomaly detection for unusual production conditions.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99FD8962-7B53-9EFA-5C36-EE8089F44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111"/>
          <a:stretch>
            <a:fillRect/>
          </a:stretch>
        </p:blipFill>
        <p:spPr>
          <a:xfrm>
            <a:off x="20" y="10"/>
            <a:ext cx="9143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18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8762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8" y="3296010"/>
            <a:ext cx="9143592" cy="2849976"/>
            <a:chOff x="476" y="-3923157"/>
            <a:chExt cx="10667524" cy="249372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56257E-4534-C117-4DAD-3AB6AE6CC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49" y="1120676"/>
            <a:ext cx="5266135" cy="2308324"/>
          </a:xfrm>
        </p:spPr>
        <p:txBody>
          <a:bodyPr>
            <a:normAutofit/>
          </a:bodyPr>
          <a:lstStyle/>
          <a:p>
            <a:pPr algn="l"/>
            <a:r>
              <a:rPr lang="en-US" sz="63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3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2B345-89AE-B78D-8D55-B7D415F9D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268" y="3809999"/>
            <a:ext cx="5269314" cy="1012778"/>
          </a:xfrm>
        </p:spPr>
        <p:txBody>
          <a:bodyPr>
            <a:normAutofit/>
          </a:bodyPr>
          <a:lstStyle/>
          <a:p>
            <a:pPr algn="l"/>
            <a:endParaRPr lang="en-I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56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563</Words>
  <Application>Microsoft Office PowerPoint</Application>
  <PresentationFormat>On-screen Show (4:3)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Predicting Steel Quality using Machine Learning</vt:lpstr>
      <vt:lpstr>Motivation and Problem Statement</vt:lpstr>
      <vt:lpstr>Dataset Overview</vt:lpstr>
      <vt:lpstr>Exploratory Data Analysis</vt:lpstr>
      <vt:lpstr>Methodology</vt:lpstr>
      <vt:lpstr>Evaluation Metrics</vt:lpstr>
      <vt:lpstr>Experimental Results</vt:lpstr>
      <vt:lpstr>Discussion and Limitations</vt:lpstr>
      <vt:lpstr>Conclusion &amp; 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rishabh kothari</dc:creator>
  <cp:keywords/>
  <dc:description>generated using python-pptx</dc:description>
  <cp:lastModifiedBy>Rishabh Kothari [Mechatronics - 2022]</cp:lastModifiedBy>
  <cp:revision>6</cp:revision>
  <dcterms:created xsi:type="dcterms:W3CDTF">2013-01-27T09:14:16Z</dcterms:created>
  <dcterms:modified xsi:type="dcterms:W3CDTF">2026-01-16T07:18:00Z</dcterms:modified>
  <cp:category/>
</cp:coreProperties>
</file>